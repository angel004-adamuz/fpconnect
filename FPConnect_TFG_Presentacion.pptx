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A87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27432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601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</a:t>
            </a:r>
            <a:pPr algn="l" indent="0" marL="0">
              <a:buNone/>
            </a:pPr>
            <a:r>
              <a:rPr lang="en-US" sz="6000" b="1" dirty="0">
                <a:solidFill>
                  <a:srgbClr val="00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alumnos, centros y empresas de FP en Andalucía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807208"/>
            <a:ext cx="4389120" cy="27432"/>
          </a:xfrm>
          <a:prstGeom prst="rect">
            <a:avLst/>
          </a:prstGeom>
          <a:solidFill>
            <a:srgbClr val="00A878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44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 ·  DAM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95160" y="1143000"/>
            <a:ext cx="182880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889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04888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35240" y="130759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Alumnos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95160" y="2130552"/>
            <a:ext cx="182880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889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04888" y="217627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35240" y="2295144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95160" y="3118104"/>
            <a:ext cx="182880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889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04888" y="316382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635240" y="3282696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Empresas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01752"/>
            <a:ext cx="54864" cy="59436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01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que Resolvemos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54864" cy="132588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4358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2618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Información dispersa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6642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alumnos no tienen un lugar centralizado donde comparar todos los centros FP de Andalucía y sus ciclos formativos.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170432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170432"/>
            <a:ext cx="54864" cy="132588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2" name="Text 10"/>
          <p:cNvSpPr/>
          <p:nvPr/>
        </p:nvSpPr>
        <p:spPr>
          <a:xfrm>
            <a:off x="5056632" y="124358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15000" y="12618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Talento invisible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16642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no conocen los perfiles de alumnos hasta que llegan a prácticas, perdiendo oportunidades de recruiting temprano.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51760"/>
            <a:ext cx="54864" cy="132588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72491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Centros sin visibilidad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14553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institutos no disponen de herramientas digitales para mostrar su valor diferencial y atraer a los mejores candidatos.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2651760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651760"/>
            <a:ext cx="54864" cy="132588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22" name="Text 20"/>
          <p:cNvSpPr/>
          <p:nvPr/>
        </p:nvSpPr>
        <p:spPr>
          <a:xfrm>
            <a:off x="5056632" y="272491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📰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71500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Becas y convocatorias perdidas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314553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alumnos no se enteran a tiempo de becas Erasmus+, ayudas de transporte o convocatorias de FP Dual.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A87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"/>
            <a:ext cx="54864" cy="59436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Solución: FPConnect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única que conecta los tres actores del ecosistema FP andaluz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201168" cy="201168"/>
          </a:xfrm>
          <a:prstGeom prst="rect">
            <a:avLst/>
          </a:prstGeom>
          <a:solidFill>
            <a:srgbClr val="00A878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159105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públicos con CV, skills y proyectos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201168" cy="201168"/>
          </a:xfrm>
          <a:prstGeom prst="rect">
            <a:avLst/>
          </a:prstGeom>
          <a:solidFill>
            <a:srgbClr val="00A878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84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" y="210312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centros con ciclos y valoraciones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96896"/>
            <a:ext cx="201168" cy="201168"/>
          </a:xfrm>
          <a:prstGeom prst="rect">
            <a:avLst/>
          </a:prstGeom>
          <a:solidFill>
            <a:srgbClr val="00A878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261518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de centros y empresas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201168" cy="201168"/>
          </a:xfrm>
          <a:prstGeom prst="rect">
            <a:avLst/>
          </a:prstGeom>
          <a:solidFill>
            <a:srgbClr val="00A878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" y="312724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noticias: becas, Erasmus+, FP Dual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621024"/>
            <a:ext cx="201168" cy="201168"/>
          </a:xfrm>
          <a:prstGeom prst="rect">
            <a:avLst/>
          </a:prstGeom>
          <a:solidFill>
            <a:srgbClr val="00A878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621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" y="363931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directo empresa → alumno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133088"/>
            <a:ext cx="201168" cy="201168"/>
          </a:xfrm>
          <a:prstGeom prst="rect">
            <a:avLst/>
          </a:prstGeom>
          <a:solidFill>
            <a:srgbClr val="00A878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33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415137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App escritorio + App móvil (Fase 2)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1920240"/>
            <a:ext cx="1508760" cy="594360"/>
          </a:xfrm>
          <a:prstGeom prst="rect">
            <a:avLst/>
          </a:prstGeom>
          <a:solidFill>
            <a:srgbClr val="00A878">
              <a:alpha val="80000"/>
            </a:srgbClr>
          </a:solidFill>
          <a:ln w="8890">
            <a:solidFill>
              <a:srgbClr val="00A87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77840" y="1920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FPConnect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0" y="1005840"/>
            <a:ext cx="1371600" cy="640080"/>
          </a:xfrm>
          <a:prstGeom prst="rect">
            <a:avLst/>
          </a:prstGeom>
          <a:solidFill>
            <a:srgbClr val="00A878">
              <a:alpha val="25000"/>
            </a:srgbClr>
          </a:solidFill>
          <a:ln w="8890">
            <a:solidFill>
              <a:srgbClr val="00A87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03520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Alumnos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2926080"/>
            <a:ext cx="1371600" cy="640080"/>
          </a:xfrm>
          <a:prstGeom prst="rect">
            <a:avLst/>
          </a:prstGeom>
          <a:solidFill>
            <a:srgbClr val="2563EB">
              <a:alpha val="25000"/>
            </a:srgbClr>
          </a:solidFill>
          <a:ln w="8890">
            <a:solidFill>
              <a:srgbClr val="2563EB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0352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🏫  Centros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1920240"/>
            <a:ext cx="1371600" cy="640080"/>
          </a:xfrm>
          <a:prstGeom prst="rect">
            <a:avLst/>
          </a:prstGeom>
          <a:solidFill>
            <a:srgbClr val="7C3AED">
              <a:alpha val="25000"/>
            </a:srgbClr>
          </a:solidFill>
          <a:ln w="889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Empresas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01752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01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 — Visión General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1828800" cy="502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⚛️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87552" y="12710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moderno. Sin TypeScript.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115568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31720" y="1115568"/>
            <a:ext cx="1828800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🦀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53512" y="12710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Tauri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177393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.exe Windows de solo 5 MB.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115568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115568"/>
            <a:ext cx="1828800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🐘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19472" y="12710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177393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DB, auth, storage, realtime.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115568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115568"/>
            <a:ext cx="1828800" cy="502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85432" y="12710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Leaflet.js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177393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open source, sin coste de API.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834640"/>
            <a:ext cx="1828800" cy="502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87552" y="2990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49300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iOS/Android — Fase 2.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31720" y="283464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331720" y="2834640"/>
            <a:ext cx="1828800" cy="5029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2" name="Text 30"/>
          <p:cNvSpPr/>
          <p:nvPr/>
        </p:nvSpPr>
        <p:spPr>
          <a:xfrm>
            <a:off x="242316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2953512" y="2990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423160" y="349300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web automático desde GitHub.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97680" y="283464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97680" y="2834640"/>
            <a:ext cx="1828800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919472" y="2990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CSS-in-JS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89120" y="349300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propio, sin Bootstrap ni MUI.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283464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2834640"/>
            <a:ext cx="1828800" cy="5029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🐙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885432" y="2990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349300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CI/CD.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389120"/>
            <a:ext cx="836676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94360" y="442569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Tauri vs Electron: Tauri genera .exe de ~5 MB (vs ~150 MB de Electron), usa menos RAM y es más seguro — diferenciador clave en un TFG de DAM.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Este Stack? Decisiones Técnicas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2651760" cy="3611880"/>
          </a:xfrm>
          <a:prstGeom prst="rect">
            <a:avLst/>
          </a:prstGeom>
          <a:solidFill>
            <a:srgbClr val="2563EB">
              <a:alpha val="17000"/>
            </a:srgbClr>
          </a:solidFill>
          <a:ln w="8890">
            <a:solidFill>
              <a:srgbClr val="2563EB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2651760" cy="502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07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78408" y="1225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Vite (sin TypeScript)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65376"/>
            <a:ext cx="128016" cy="128016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8288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código funciona en web Y en Tauri — ahorramos semanas de trabajo.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128016" cy="128016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45059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compila en menos de 500 ms frente a los varios segundos de Webpack.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128016" cy="128016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07238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enorme: leaflet-react, recharts, react-router disponibles ya.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730752"/>
            <a:ext cx="128016" cy="128016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69417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TypeScript: curva de aprendizaje menor, plazos del TFG más manejables.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64408" y="1115568"/>
            <a:ext cx="2651760" cy="3611880"/>
          </a:xfrm>
          <a:prstGeom prst="rect">
            <a:avLst/>
          </a:prstGeom>
          <a:solidFill>
            <a:srgbClr val="00A878">
              <a:alpha val="17000"/>
            </a:srgbClr>
          </a:solidFill>
          <a:ln w="8890">
            <a:solidFill>
              <a:srgbClr val="00A87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115568"/>
            <a:ext cx="2651760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3355848" y="1207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🐘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858768" y="1225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 (Backend as a Service)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1865376"/>
            <a:ext cx="128016" cy="128016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584448" y="18288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real: relaciones alumno↔centro↔empresa con integridad referencial.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2487168"/>
            <a:ext cx="128016" cy="128016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584448" y="245059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 incluida: login email/password y OAuth sin escribir una línea de backend.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3108960"/>
            <a:ext cx="128016" cy="128016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584448" y="307238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listo: subir CVs en PDF con una sola llamada a la API.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0" y="3730752"/>
            <a:ext cx="128016" cy="128016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84448" y="369417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Realtime: notificaciones empresa→alumno sin WebSockets propios.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4352544"/>
            <a:ext cx="128016" cy="128016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584448" y="431596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gratuito generoso — perfecto para demo y defensa del TFG.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44768" y="1115568"/>
            <a:ext cx="2651760" cy="3611880"/>
          </a:xfrm>
          <a:prstGeom prst="rect">
            <a:avLst/>
          </a:prstGeom>
          <a:solidFill>
            <a:srgbClr val="EF4444">
              <a:alpha val="17000"/>
            </a:srgbClr>
          </a:solidFill>
          <a:ln w="889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1115568"/>
            <a:ext cx="2651760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236208" y="1207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🦀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739128" y="1225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Tauri 2 (App Escritorio Windows)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1865376"/>
            <a:ext cx="128016" cy="128016"/>
          </a:xfrm>
          <a:prstGeom prst="ellipse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64808" y="18288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Ejecutable .exe nativo sin instalar Node.js, Java ni Electron.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2487168"/>
            <a:ext cx="128016" cy="128016"/>
          </a:xfrm>
          <a:prstGeom prst="ellipse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245059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 vs 150 MB de Electron: el alumno lo instala en segundos.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3108960"/>
            <a:ext cx="128016" cy="128016"/>
          </a:xfrm>
          <a:prstGeom prst="ellipse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64808" y="307238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el mismo bundle React — cero duplicación de código.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3730752"/>
            <a:ext cx="128016" cy="128016"/>
          </a:xfrm>
          <a:prstGeom prst="ellipse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64808" y="369417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nativo: acceso real al sistema de archivos de Windows.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01752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01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Comparativa Técnica — ¿Por Qué No Otras Opciones?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1920240" cy="4114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7899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078992"/>
            <a:ext cx="2103120" cy="4114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0789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Elección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078992"/>
            <a:ext cx="2103120" cy="4114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0789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28816" y="1078992"/>
            <a:ext cx="2743200" cy="4114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078992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del descarte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490472"/>
            <a:ext cx="19202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49961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0" y="1490472"/>
            <a:ext cx="2103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14996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7408" y="1490472"/>
            <a:ext cx="2103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4996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/ Vue.js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28816" y="1490472"/>
            <a:ext cx="27432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49961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 reutiliza en Tauri y React Native sin cambios.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1965960"/>
            <a:ext cx="192024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19751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escritorio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1965960"/>
            <a:ext cx="210312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59152" y="19751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07408" y="1965960"/>
            <a:ext cx="210312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9751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28816" y="1965960"/>
            <a:ext cx="274320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197510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 vs 150 MB. Menos RAM. Sin Node.js en producción.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2441448"/>
            <a:ext cx="19202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0" y="2441448"/>
            <a:ext cx="2103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24505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07408" y="2441448"/>
            <a:ext cx="2103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24505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nativo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28816" y="2441448"/>
            <a:ext cx="27432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24505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lógica con el frontend web y el mismo backend.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2916936"/>
            <a:ext cx="192024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29260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0" y="2916936"/>
            <a:ext cx="210312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9152" y="29260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07408" y="2916936"/>
            <a:ext cx="210312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29260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Node propio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28816" y="2916936"/>
            <a:ext cx="274320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1968" y="29260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real + auth + storage listo. Sin código de servidor.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7472" y="3392424"/>
            <a:ext cx="19202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34015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286000" y="3392424"/>
            <a:ext cx="2103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9152" y="34015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(Supa.)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07408" y="3392424"/>
            <a:ext cx="2103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34015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MySQL propio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528816" y="3392424"/>
            <a:ext cx="27432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01968" y="340156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complejas entre roles. RLS para seguridad por filas.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47472" y="3867912"/>
            <a:ext cx="192024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38770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web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286000" y="3867912"/>
            <a:ext cx="210312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59152" y="38770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407408" y="3867912"/>
            <a:ext cx="210312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0" y="38770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Netlify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528816" y="3867912"/>
            <a:ext cx="2743200" cy="457200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01968" y="38770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automático desde GitHub en un clic. SSL gratuito.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2743200" cy="3154680"/>
          </a:xfrm>
          <a:prstGeom prst="rect">
            <a:avLst/>
          </a:prstGeom>
          <a:solidFill>
            <a:srgbClr val="2563EB">
              <a:alpha val="20000"/>
            </a:srgbClr>
          </a:solidFill>
          <a:ln w="8890">
            <a:solidFill>
              <a:srgbClr val="2563EB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78992"/>
            <a:ext cx="2743200" cy="502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61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+ Vite (web)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0482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Tauri 2 .exe (Windows)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Native (Fase 2)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8895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Leaflet.js (mapas)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3101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 Sans + CSS-in-JS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45536" y="2651760"/>
            <a:ext cx="585216" cy="0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50545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7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01568" y="1078992"/>
            <a:ext cx="2743200" cy="3154680"/>
          </a:xfrm>
          <a:prstGeom prst="rect">
            <a:avLst/>
          </a:prstGeom>
          <a:solidFill>
            <a:srgbClr val="00A878">
              <a:alpha val="20000"/>
            </a:srgbClr>
          </a:solidFill>
          <a:ln w="8890">
            <a:solidFill>
              <a:srgbClr val="00A87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01568" y="1078992"/>
            <a:ext cx="2743200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1161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SUPABASE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84448" y="1627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JWT (3 roles)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84448" y="20482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+ RLS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84448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(CVs, fotos)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84448" y="28895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Realtime (notif.)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84448" y="33101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auto-gen.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63056" y="2651760"/>
            <a:ext cx="585216" cy="0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50545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7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19088" y="1078992"/>
            <a:ext cx="2743200" cy="3154680"/>
          </a:xfrm>
          <a:prstGeom prst="rect">
            <a:avLst/>
          </a:prstGeom>
          <a:solidFill>
            <a:srgbClr val="7C3AED">
              <a:alpha val="20000"/>
            </a:srgbClr>
          </a:solidFill>
          <a:ln w="889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9088" y="1078992"/>
            <a:ext cx="2743200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1161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1627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usuarios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01968" y="20482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alumnos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01968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centros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01968" y="28895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empresas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01968" y="33101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vacantes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01968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noticias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01968" y="41513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intereses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84048" y="4370832"/>
            <a:ext cx="8339328" cy="548640"/>
          </a:xfrm>
          <a:prstGeom prst="rect">
            <a:avLst/>
          </a:prstGeom>
          <a:solidFill>
            <a:srgbClr val="00A878">
              <a:alpha val="15000"/>
            </a:srgbClr>
          </a:solidFill>
          <a:ln w="8890">
            <a:solidFill>
              <a:srgbClr val="00A87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1792" y="44074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Deploy:  Web → Vercel (CI/CD automático desde GitHub)   ·   Desktop → Tauri Bundler genera instalador .exe para Windows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01752"/>
            <a:ext cx="54864" cy="59436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01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por Rol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816352" cy="594360"/>
          </a:xfrm>
          <a:prstGeom prst="rect">
            <a:avLst/>
          </a:prstGeom>
          <a:solidFill>
            <a:srgbClr val="00A878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14300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Alumno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" y="1883664"/>
            <a:ext cx="182880" cy="182880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5623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métricas personales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" y="2359152"/>
            <a:ext cx="182880" cy="182880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centros con filtros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" y="2834640"/>
            <a:ext cx="182880" cy="182880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072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de Andalucía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" y="3310128"/>
            <a:ext cx="182880" cy="182880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8269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con CV, skills y proyectos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" y="3785616"/>
            <a:ext cx="182880" cy="182880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58184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becas y convocatorias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" y="4261104"/>
            <a:ext cx="182880" cy="182880"/>
          </a:xfrm>
          <a:prstGeom prst="ellipse">
            <a:avLst/>
          </a:prstGeom>
          <a:solidFill>
            <a:srgbClr val="00A878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3367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de alumnos FP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64408" y="1143000"/>
            <a:ext cx="2816352" cy="59436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64408" y="114300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🏫  Centro FP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83280" y="1883664"/>
            <a:ext cx="182880" cy="18288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48456" y="185623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estadísticas reales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83280" y="2359152"/>
            <a:ext cx="182880" cy="18288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48456" y="233172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alumnos registrados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83280" y="2834640"/>
            <a:ext cx="182880" cy="18288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48456" y="28072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público con ciclos y datos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83280" y="3310128"/>
            <a:ext cx="182880" cy="18288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48456" y="328269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empresas colaboradoras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3785616"/>
            <a:ext cx="182880" cy="18288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48456" y="3758184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 noticias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3280" y="4261104"/>
            <a:ext cx="182880" cy="18288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648456" y="423367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inserción laboral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81344" y="1143000"/>
            <a:ext cx="2816352" cy="594360"/>
          </a:xfrm>
          <a:prstGeom prst="rect">
            <a:avLst/>
          </a:prstGeom>
          <a:solidFill>
            <a:srgbClr val="7C3AED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81344" y="114300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Empresa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00216" y="1883664"/>
            <a:ext cx="182880" cy="182880"/>
          </a:xfrm>
          <a:prstGeom prst="ellipse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65392" y="185623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de talento por ciclo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0216" y="2359152"/>
            <a:ext cx="182880" cy="182880"/>
          </a:xfrm>
          <a:prstGeom prst="ellipse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65392" y="233172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completo de cada alumno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00216" y="2834640"/>
            <a:ext cx="182880" cy="182880"/>
          </a:xfrm>
          <a:prstGeom prst="ellipse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28072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vacantes activas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00216" y="3310128"/>
            <a:ext cx="182880" cy="182880"/>
          </a:xfrm>
          <a:prstGeom prst="ellipse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565392" y="328269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 con alumnos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00216" y="3785616"/>
            <a:ext cx="182880" cy="182880"/>
          </a:xfrm>
          <a:prstGeom prst="ellipse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565392" y="3758184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centros FP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00216" y="4261104"/>
            <a:ext cx="182880" cy="182880"/>
          </a:xfrm>
          <a:prstGeom prst="ellipse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565392" y="423367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 candidatos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A87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"/>
            <a:ext cx="54864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Hoja de Ruta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2011680" cy="3246120"/>
          </a:xfrm>
          <a:prstGeom prst="rect">
            <a:avLst/>
          </a:prstGeom>
          <a:solidFill>
            <a:srgbClr val="00A878">
              <a:alpha val="15000"/>
            </a:srgbClr>
          </a:solidFill>
          <a:ln w="8890">
            <a:solidFill>
              <a:srgbClr val="00A87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2011680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252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801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funcional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624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multi-rol · 3 dashboards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136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Datos de prueba realistas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3648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Diseño UI propio sin deps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0" y="1115568"/>
            <a:ext cx="2011680" cy="3246120"/>
          </a:xfrm>
          <a:prstGeom prst="rect">
            <a:avLst/>
          </a:prstGeom>
          <a:solidFill>
            <a:srgbClr val="2563EB">
              <a:alpha val="15000"/>
            </a:srgbClr>
          </a:solidFill>
          <a:ln w="8890">
            <a:solidFill>
              <a:srgbClr val="2563EB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115568"/>
            <a:ext cx="2011680" cy="502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2252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51760" y="1801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real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2624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Supabase: auth + PostgreSQL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0" y="3136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CVs y fotos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3648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todos los roles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36592" y="1115568"/>
            <a:ext cx="2011680" cy="3246120"/>
          </a:xfrm>
          <a:prstGeom prst="rect">
            <a:avLst/>
          </a:prstGeom>
          <a:solidFill>
            <a:srgbClr val="7C3AED">
              <a:alpha val="15000"/>
            </a:srgbClr>
          </a:solidFill>
          <a:ln w="889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115568"/>
            <a:ext cx="2011680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2252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28032" y="1801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avanzadas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5–6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28032" y="2624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Mapa Leaflet geolocalizado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28032" y="3136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Mensajería empresa ↔ alumno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3648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Notificaciones Realtime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12864" y="1115568"/>
            <a:ext cx="2011680" cy="3246120"/>
          </a:xfrm>
          <a:prstGeom prst="rect">
            <a:avLst/>
          </a:prstGeom>
          <a:solidFill>
            <a:srgbClr val="F5C518">
              <a:alpha val="15000"/>
            </a:srgbClr>
          </a:solidFill>
          <a:ln w="8890">
            <a:solidFill>
              <a:srgbClr val="F5C51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12864" y="1115568"/>
            <a:ext cx="2011680" cy="502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7004304" y="12252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004304" y="1801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escritorio Windows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04304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7–8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04304" y="2624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Tauri 2: generar .exe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04304" y="3136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Instalador Tauri Bundler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04304" y="3648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Memoria TFG + defensa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4048" y="4480560"/>
            <a:ext cx="8339328" cy="594360"/>
          </a:xfrm>
          <a:prstGeom prst="rect">
            <a:avLst/>
          </a:prstGeom>
          <a:solidFill>
            <a:srgbClr val="0891B2">
              <a:alpha val="22000"/>
            </a:srgbClr>
          </a:solidFill>
          <a:ln w="889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" y="4480560"/>
            <a:ext cx="8339328" cy="502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45262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PRÓXIMA REUNIÓN — Fase 2: App Móvil Nativa iOS + Android  ·  React Native + Expo  ·  Mismo backend Supabase  ·  Push notifications  ·  Geolocalización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01752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01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2: App Móvil iOS + Android con React Native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React Native?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81328"/>
            <a:ext cx="5029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código, dos plataformas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y Android desde el mismo proyecto. Ahorramos el 50% del tiempo frente a apps nativas separadas.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22576"/>
            <a:ext cx="5029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reutilizado al 100%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base de datos Supabase, auth y storage ya construidos en Fase 1. Cero trabajo extra de backend.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63824"/>
            <a:ext cx="5029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Mismos patrones React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negocio ya escrita en la web se adapta directamente a React Native con cambios mínimos.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05072"/>
            <a:ext cx="5029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 para distribución rápida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" y="4334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permite probar en móvil real sin compilar. TestFlight y Play Console para distribuir en producción.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móvil previstas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48132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4996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1808" y="15179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notifications: becas, mensajes de empresas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02996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0482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21808" y="20665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Geolocalización: centros y empresas cercanos en tiempo real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57860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25968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21808" y="26151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CV desde la galería directamente a Supabase Storage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12724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1455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21808" y="316382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nativo empresa ↔ alumno con Supabase Realtime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67588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36941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21808" y="37124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Biometría: login con huella digital o Face ID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422452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42428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321808" y="42611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offline: caché local con perfil y centros guardados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590288"/>
            <a:ext cx="8229600" cy="475488"/>
          </a:xfrm>
          <a:prstGeom prst="rect">
            <a:avLst/>
          </a:prstGeom>
          <a:solidFill>
            <a:srgbClr val="E0F7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8368" y="462686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Stack Fase 2:  React Native + Expo  ·  Supabase (reutilizado)  ·  React Navigation  ·  Zustand  ·  notifee (push)  ·  react-native-maps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01752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01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Esperado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9202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779776"/>
            <a:ext cx="192024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53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FP en Andalucía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potenciales usuarios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19202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2779776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353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150k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de FP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toda Andalucía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170432"/>
            <a:ext cx="19202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2779776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353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23k+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63440" y="2103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colaboradoras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realizan prácticas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170432"/>
            <a:ext cx="19202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779776"/>
            <a:ext cx="192024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353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766560" y="2103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Provincias cubiertas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territorio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090672"/>
            <a:ext cx="83667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" y="320040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Propuesta de valor diferencial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65760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96112" y="363931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marketplace educativo específico para FP en Andalucía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87752" y="365760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980944" y="363931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App escritorio + App móvil iOS/Android (Fase 2)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72584" y="365760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🆓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065776" y="363931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para alumnos y centros, freemium para empresas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57416" y="365760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150608" y="363931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real: Supabase RLS, auth JWT, cifrado en tránsito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0A87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931920" y="5029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🌿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</a:t>
            </a:r>
            <a:pPr algn="ctr" indent="0" marL="0">
              <a:buNone/>
            </a:pPr>
            <a:r>
              <a:rPr lang="en-US" sz="5200" b="1" dirty="0">
                <a:solidFill>
                  <a:srgbClr val="00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2487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el ecosistema FP andaluz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127248"/>
            <a:ext cx="2743200" cy="36576"/>
          </a:xfrm>
          <a:prstGeom prst="rect">
            <a:avLst/>
          </a:prstGeom>
          <a:solidFill>
            <a:srgbClr val="00A878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 ·  Desarrollo de Aplicaciones Multiplataforma  · 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4005072"/>
            <a:ext cx="1664208" cy="475488"/>
          </a:xfrm>
          <a:prstGeom prst="rect">
            <a:avLst/>
          </a:prstGeom>
          <a:solidFill>
            <a:srgbClr val="00A878">
              <a:alpha val="20000"/>
            </a:srgbClr>
          </a:solidFill>
          <a:ln w="8890">
            <a:solidFill>
              <a:srgbClr val="00A87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40050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Web + Demo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4005072"/>
            <a:ext cx="1664208" cy="475488"/>
          </a:xfrm>
          <a:prstGeom prst="rect">
            <a:avLst/>
          </a:prstGeom>
          <a:solidFill>
            <a:srgbClr val="EF4444">
              <a:alpha val="20000"/>
            </a:srgbClr>
          </a:solidFill>
          <a:ln w="889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40050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App Windows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4005072"/>
            <a:ext cx="1664208" cy="475488"/>
          </a:xfrm>
          <a:prstGeom prst="rect">
            <a:avLst/>
          </a:prstGeom>
          <a:solidFill>
            <a:srgbClr val="0891B2">
              <a:alpha val="20000"/>
            </a:srgbClr>
          </a:solidFill>
          <a:ln w="889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40050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App iOS/Android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 —  ¿Preguntas?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FPConnect — TFG DAM 2025</dc:title>
  <dc:subject>PptxGenJS Presentation</dc:subject>
  <dc:creator>PptxGenJS</dc:creator>
  <cp:lastModifiedBy>PptxGenJS</cp:lastModifiedBy>
  <cp:revision>1</cp:revision>
  <dcterms:created xsi:type="dcterms:W3CDTF">2026-03-08T19:46:41Z</dcterms:created>
  <dcterms:modified xsi:type="dcterms:W3CDTF">2026-03-08T19:46:41Z</dcterms:modified>
</cp:coreProperties>
</file>